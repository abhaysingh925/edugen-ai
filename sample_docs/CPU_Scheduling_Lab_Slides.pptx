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b="1">
                <a:solidFill>
                  <a:srgbClr val="4F46E5"/>
                </a:solidFill>
                <a:latin typeface="Aptos"/>
              </a:rPr>
              <a:t>CPU Scheduling 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Aptos"/>
              </a:rPr>
              <a:t>A multi-document source used for EduGen-AI demo</a:t>
            </a:r>
          </a:p>
          <a:p>
            <a:r>
              <a:rPr>
                <a:latin typeface="Aptos"/>
              </a:rPr>
              <a:t>PDF + DOCX + PPTX ingestion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4F46E5"/>
                </a:solidFill>
                <a:latin typeface="Aptos"/>
              </a:rP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0294B"/>
                </a:solidFill>
              </a:defRPr>
            </a:pPr>
            <a:r>
              <a:rPr>
                <a:latin typeface="Aptos"/>
              </a:rPr>
              <a:t>1. Define process IDs, arrival times and CPU bursts.</a:t>
            </a:r>
          </a:p>
          <a:p>
            <a:pPr>
              <a:defRPr sz="2300">
                <a:solidFill>
                  <a:srgbClr val="20294B"/>
                </a:solidFill>
              </a:defRPr>
            </a:pPr>
            <a:r>
              <a:rPr>
                <a:latin typeface="Aptos"/>
              </a:rPr>
              <a:t>2. Draw the Gantt chart for each algorithm.</a:t>
            </a:r>
          </a:p>
          <a:p>
            <a:pPr>
              <a:defRPr sz="2300">
                <a:solidFill>
                  <a:srgbClr val="20294B"/>
                </a:solidFill>
              </a:defRPr>
            </a:pPr>
            <a:r>
              <a:rPr>
                <a:latin typeface="Aptos"/>
              </a:rPr>
              <a:t>3. Calculate waiting and turnaround time.</a:t>
            </a:r>
          </a:p>
          <a:p>
            <a:pPr>
              <a:defRPr sz="2300">
                <a:solidFill>
                  <a:srgbClr val="20294B"/>
                </a:solidFill>
              </a:defRPr>
            </a:pPr>
            <a:r>
              <a:rPr>
                <a:latin typeface="Aptos"/>
              </a:rPr>
              <a:t>4. Compare average metrics and fairness.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4F46E5"/>
                </a:solidFill>
                <a:latin typeface="Aptos"/>
              </a:rPr>
              <a:t>FCFS vs SJF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0294B"/>
                </a:solidFill>
              </a:defRPr>
            </a:pPr>
            <a:r>
              <a:rPr>
                <a:latin typeface="Aptos"/>
              </a:rPr>
              <a:t>FCFS: ready-queue arrival order; non-preemptive; simple but can cause a convoy effect.</a:t>
            </a:r>
          </a:p>
          <a:p>
            <a:pPr>
              <a:defRPr sz="2300">
                <a:solidFill>
                  <a:srgbClr val="20294B"/>
                </a:solidFill>
              </a:defRPr>
            </a:pPr>
            <a:r>
              <a:rPr>
                <a:latin typeface="Aptos"/>
              </a:rPr>
              <a:t>SJF: shortest next CPU burst first; can lower average waiting time when burst estimates are accurate.</a:t>
            </a:r>
          </a:p>
          <a:p>
            <a:pPr>
              <a:defRPr sz="2300">
                <a:solidFill>
                  <a:srgbClr val="20294B"/>
                </a:solidFill>
              </a:defRPr>
            </a:pPr>
            <a:r>
              <a:rPr>
                <a:latin typeface="Aptos"/>
              </a:rPr>
              <a:t>SRTF: preemptive version of SJF using remaining burst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4F46E5"/>
                </a:solidFill>
                <a:latin typeface="Aptos"/>
              </a:rPr>
              <a:t>Round Robin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0294B"/>
                </a:solidFill>
              </a:defRPr>
            </a:pPr>
            <a:r>
              <a:rPr>
                <a:latin typeface="Aptos"/>
              </a:rPr>
              <a:t>Each ready process receives one time quantum.</a:t>
            </a:r>
          </a:p>
          <a:p>
            <a:pPr>
              <a:defRPr sz="2300">
                <a:solidFill>
                  <a:srgbClr val="20294B"/>
                </a:solidFill>
              </a:defRPr>
            </a:pPr>
            <a:r>
              <a:rPr>
                <a:latin typeface="Aptos"/>
              </a:rPr>
              <a:t>When the quantum expires, an unfinished process returns to the queue tail.</a:t>
            </a:r>
          </a:p>
          <a:p>
            <a:pPr>
              <a:defRPr sz="2300">
                <a:solidFill>
                  <a:srgbClr val="20294B"/>
                </a:solidFill>
              </a:defRPr>
            </a:pPr>
            <a:r>
              <a:rPr>
                <a:latin typeface="Aptos"/>
              </a:rPr>
              <a:t>Large quantum approximates FCFS; very small quantum causes more context-switch overhead.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4F46E5"/>
                </a:solidFill>
                <a:latin typeface="Aptos"/>
              </a:rPr>
              <a:t>Lab observations and viva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>
                <a:solidFill>
                  <a:srgbClr val="20294B"/>
                </a:solidFill>
              </a:defRPr>
            </a:pPr>
            <a:r>
              <a:rPr>
                <a:latin typeface="Aptos"/>
              </a:rPr>
              <a:t>Record workload assumptions and draw the Gantt chart before calculating metrics.</a:t>
            </a:r>
          </a:p>
          <a:p>
            <a:pPr>
              <a:defRPr sz="2300">
                <a:solidFill>
                  <a:srgbClr val="20294B"/>
                </a:solidFill>
              </a:defRPr>
            </a:pPr>
            <a:r>
              <a:rPr>
                <a:latin typeface="Aptos"/>
              </a:rPr>
              <a:t>What is the difference between waiting time and response time?</a:t>
            </a:r>
          </a:p>
          <a:p>
            <a:pPr>
              <a:defRPr sz="2300">
                <a:solidFill>
                  <a:srgbClr val="20294B"/>
                </a:solidFill>
              </a:defRPr>
            </a:pPr>
            <a:r>
              <a:rPr>
                <a:latin typeface="Aptos"/>
              </a:rPr>
              <a:t>How does aging reduce starvation in priority scheduling?</a:t>
            </a:r>
          </a:p>
          <a:p>
            <a:pPr>
              <a:defRPr sz="2300">
                <a:solidFill>
                  <a:srgbClr val="20294B"/>
                </a:solidFill>
              </a:defRPr>
            </a:pPr>
            <a:r>
              <a:rPr>
                <a:latin typeface="Aptos"/>
              </a:rPr>
              <a:t>Which scheduling policy best supports interactive responsiveness, and why?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